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5c289e5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a5c289e5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a5c289e54c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a5c289e54c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a5c289e54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a5c289e54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5c289e54c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a5c289e54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5c289e54c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5c289e54c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5c289e54c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a5c289e54c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a5c289e54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a5c289e54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a5c289e54c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a5c289e54c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a5c289e54c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a5c289e54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a5c289e54c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a5c289e54c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a5c289e54c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a5c289e54c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a5c289e54c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a5c289e54c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a5c289e54c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a5c289e54c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5c289e54c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a5c289e54c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5c289e54c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a5c289e54c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a5c289e54c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a5c289e54c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Noise Removal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EECS 442 Final Project, Nat Shi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4"/>
          <p:cNvCxnSpPr/>
          <p:nvPr/>
        </p:nvCxnSpPr>
        <p:spPr>
          <a:xfrm>
            <a:off x="1816450" y="4650"/>
            <a:ext cx="0" cy="513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3" name="Google Shape;93;p14"/>
          <p:cNvGrpSpPr/>
          <p:nvPr/>
        </p:nvGrpSpPr>
        <p:grpSpPr>
          <a:xfrm>
            <a:off x="147325" y="719688"/>
            <a:ext cx="1487400" cy="3704125"/>
            <a:chOff x="154175" y="500375"/>
            <a:chExt cx="1487400" cy="3704125"/>
          </a:xfrm>
        </p:grpSpPr>
        <p:cxnSp>
          <p:nvCxnSpPr>
            <p:cNvPr id="94" name="Google Shape;94;p14"/>
            <p:cNvCxnSpPr>
              <a:stCxn id="95" idx="0"/>
              <a:endCxn id="96" idx="2"/>
            </p:cNvCxnSpPr>
            <p:nvPr/>
          </p:nvCxnSpPr>
          <p:spPr>
            <a:xfrm>
              <a:off x="897875" y="500375"/>
              <a:ext cx="0" cy="370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5" name="Google Shape;95;p14"/>
            <p:cNvSpPr/>
            <p:nvPr/>
          </p:nvSpPr>
          <p:spPr>
            <a:xfrm>
              <a:off x="243275" y="500375"/>
              <a:ext cx="1309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Introduction</a:t>
              </a:r>
              <a:endPara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154175" y="1316763"/>
              <a:ext cx="14874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Related Work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327275" y="2133150"/>
              <a:ext cx="1141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Method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205625" y="2949525"/>
              <a:ext cx="13845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Experiments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243275" y="3765900"/>
              <a:ext cx="1309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Conclusion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0" name="Google Shape;100;p14"/>
          <p:cNvSpPr txBox="1"/>
          <p:nvPr/>
        </p:nvSpPr>
        <p:spPr>
          <a:xfrm>
            <a:off x="2193475" y="1950150"/>
            <a:ext cx="394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4"/>
          <p:cNvSpPr txBox="1"/>
          <p:nvPr>
            <p:ph idx="4294967295" type="title"/>
          </p:nvPr>
        </p:nvSpPr>
        <p:spPr>
          <a:xfrm>
            <a:off x="2100350" y="1950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Primary Question</a:t>
            </a:r>
            <a:endParaRPr sz="2220"/>
          </a:p>
        </p:txBody>
      </p:sp>
      <p:sp>
        <p:nvSpPr>
          <p:cNvPr id="102" name="Google Shape;102;p14"/>
          <p:cNvSpPr txBox="1"/>
          <p:nvPr/>
        </p:nvSpPr>
        <p:spPr>
          <a:xfrm>
            <a:off x="1998175" y="2485350"/>
            <a:ext cx="6083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What methods exist for removing noise from audio, and can the autoencoder architecture be applied to such? </a:t>
            </a:r>
            <a:endParaRPr i="1"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729450" y="2078875"/>
            <a:ext cx="7688700" cy="27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/>
              <a:t>There are many applications which could benefit from selectively removing or isolating sounds from audio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/>
              <a:t>Potential to make audio experiences more bearable for certain audiences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/>
              <a:t>(And some personal curiosity about working with audio)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7108950" y="655013"/>
            <a:ext cx="13092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Introduction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idx="2" type="body"/>
          </p:nvPr>
        </p:nvSpPr>
        <p:spPr>
          <a:xfrm>
            <a:off x="5153650" y="1466875"/>
            <a:ext cx="3374400" cy="30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" sz="1400"/>
              <a:t>Varying sensory experiences:</a:t>
            </a:r>
            <a:endParaRPr sz="1400"/>
          </a:p>
          <a:p>
            <a:pPr indent="-31115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/>
              <a:t>Misophonia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/>
              <a:t>Sensory processing disorder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/>
              <a:t>Other neurodivergent and/ or perceptual conditions</a:t>
            </a:r>
            <a:endParaRPr sz="1300"/>
          </a:p>
          <a:p>
            <a:pPr indent="-3175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/>
              <a:t>To what degree can machine learning be integrated with the consumer audio experience? 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7108950" y="655013"/>
            <a:ext cx="13092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Introduction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390700" y="708725"/>
            <a:ext cx="394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Application side: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418125" y="1501150"/>
            <a:ext cx="3948300" cy="23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Call audio processing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Post-processing of recordings for various purposes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Educational or research materials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Commercial products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Preprocessing step for further audio-related querying or classification tasks?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4757075" y="1302375"/>
            <a:ext cx="394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Practical niche audio concerns: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p17"/>
          <p:cNvCxnSpPr/>
          <p:nvPr/>
        </p:nvCxnSpPr>
        <p:spPr>
          <a:xfrm>
            <a:off x="1816450" y="4650"/>
            <a:ext cx="0" cy="513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4" name="Google Shape;124;p17"/>
          <p:cNvGrpSpPr/>
          <p:nvPr/>
        </p:nvGrpSpPr>
        <p:grpSpPr>
          <a:xfrm>
            <a:off x="147325" y="719688"/>
            <a:ext cx="1487400" cy="3704125"/>
            <a:chOff x="154175" y="500375"/>
            <a:chExt cx="1487400" cy="3704125"/>
          </a:xfrm>
        </p:grpSpPr>
        <p:cxnSp>
          <p:nvCxnSpPr>
            <p:cNvPr id="125" name="Google Shape;125;p17"/>
            <p:cNvCxnSpPr>
              <a:stCxn id="126" idx="0"/>
              <a:endCxn id="127" idx="2"/>
            </p:cNvCxnSpPr>
            <p:nvPr/>
          </p:nvCxnSpPr>
          <p:spPr>
            <a:xfrm>
              <a:off x="897875" y="500375"/>
              <a:ext cx="0" cy="370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" name="Google Shape;126;p17"/>
            <p:cNvSpPr/>
            <p:nvPr/>
          </p:nvSpPr>
          <p:spPr>
            <a:xfrm>
              <a:off x="243275" y="500375"/>
              <a:ext cx="1309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Introduction</a:t>
              </a:r>
              <a:endPara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154175" y="1316763"/>
              <a:ext cx="14874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Related Work</a:t>
              </a:r>
              <a:endPara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327275" y="2133150"/>
              <a:ext cx="1141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Method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05625" y="2949525"/>
              <a:ext cx="13845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Experiments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243275" y="3765900"/>
              <a:ext cx="1309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Conclusion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31" name="Google Shape;131;p17"/>
          <p:cNvSpPr txBox="1"/>
          <p:nvPr/>
        </p:nvSpPr>
        <p:spPr>
          <a:xfrm>
            <a:off x="2179775" y="1675975"/>
            <a:ext cx="39483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Related techniques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Similar problems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References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7"/>
          <p:cNvSpPr txBox="1"/>
          <p:nvPr>
            <p:ph idx="4294967295" type="title"/>
          </p:nvPr>
        </p:nvSpPr>
        <p:spPr>
          <a:xfrm>
            <a:off x="2072950" y="719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Related Work</a:t>
            </a:r>
            <a:endParaRPr sz="22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Problems</a:t>
            </a:r>
            <a:endParaRPr/>
          </a:p>
        </p:txBody>
      </p:sp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Wave-U-Net: audio track separation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Given audio, output separated tracks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Based off of original U-Net architecture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Uses upsampling instead of convolution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Conv-TASNet: speech separation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Convolutional architecture with masking mechanism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6930500" y="655025"/>
            <a:ext cx="14874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Related Work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Techniques</a:t>
            </a:r>
            <a:endParaRPr/>
          </a:p>
        </p:txBody>
      </p:sp>
      <p:sp>
        <p:nvSpPr>
          <p:cNvPr id="145" name="Google Shape;145;p1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Spectral Subtraction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Estimate and subtract noise profile in frequency domain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Spectral Gating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Filter by frequency domain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Wiener Filtering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Estimate noise power spectrum and apply linear time-invariant filter</a:t>
            </a:r>
            <a:endParaRPr/>
          </a:p>
        </p:txBody>
      </p:sp>
      <p:sp>
        <p:nvSpPr>
          <p:cNvPr id="146" name="Google Shape;146;p19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SEGAN (Speech Enhancement Generative Adversarial Network)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Uses GAN to distinguish between real and enhanced audio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Facebook Denoiser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Convolutional AE with LSTM</a:t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6930500" y="655025"/>
            <a:ext cx="14874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Related Work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" name="Google Shape;152;p20"/>
          <p:cNvCxnSpPr/>
          <p:nvPr/>
        </p:nvCxnSpPr>
        <p:spPr>
          <a:xfrm>
            <a:off x="1816450" y="4650"/>
            <a:ext cx="0" cy="513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3" name="Google Shape;153;p20"/>
          <p:cNvGrpSpPr/>
          <p:nvPr/>
        </p:nvGrpSpPr>
        <p:grpSpPr>
          <a:xfrm>
            <a:off x="147325" y="719688"/>
            <a:ext cx="1487400" cy="3704125"/>
            <a:chOff x="154175" y="500375"/>
            <a:chExt cx="1487400" cy="3704125"/>
          </a:xfrm>
        </p:grpSpPr>
        <p:cxnSp>
          <p:nvCxnSpPr>
            <p:cNvPr id="154" name="Google Shape;154;p20"/>
            <p:cNvCxnSpPr>
              <a:stCxn id="155" idx="0"/>
              <a:endCxn id="156" idx="2"/>
            </p:cNvCxnSpPr>
            <p:nvPr/>
          </p:nvCxnSpPr>
          <p:spPr>
            <a:xfrm>
              <a:off x="897875" y="500375"/>
              <a:ext cx="0" cy="370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" name="Google Shape;155;p20"/>
            <p:cNvSpPr/>
            <p:nvPr/>
          </p:nvSpPr>
          <p:spPr>
            <a:xfrm>
              <a:off x="243275" y="500375"/>
              <a:ext cx="1309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Introduction</a:t>
              </a:r>
              <a:endPara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154175" y="1316763"/>
              <a:ext cx="14874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Related Work</a:t>
              </a:r>
              <a:endPara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8" name="Google Shape;158;p20"/>
            <p:cNvSpPr/>
            <p:nvPr/>
          </p:nvSpPr>
          <p:spPr>
            <a:xfrm>
              <a:off x="327275" y="2133150"/>
              <a:ext cx="1141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Method</a:t>
              </a:r>
              <a:endPara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" name="Google Shape;159;p20"/>
            <p:cNvSpPr/>
            <p:nvPr/>
          </p:nvSpPr>
          <p:spPr>
            <a:xfrm>
              <a:off x="205625" y="2949525"/>
              <a:ext cx="13845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Experiments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243275" y="3765900"/>
              <a:ext cx="1309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Conclusion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60" name="Google Shape;160;p20"/>
          <p:cNvSpPr txBox="1"/>
          <p:nvPr/>
        </p:nvSpPr>
        <p:spPr>
          <a:xfrm>
            <a:off x="2193475" y="1950150"/>
            <a:ext cx="394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0"/>
          <p:cNvSpPr txBox="1"/>
          <p:nvPr>
            <p:ph idx="4294967295" type="title"/>
          </p:nvPr>
        </p:nvSpPr>
        <p:spPr>
          <a:xfrm>
            <a:off x="2072950" y="719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Method</a:t>
            </a:r>
            <a:endParaRPr sz="2220"/>
          </a:p>
        </p:txBody>
      </p:sp>
      <p:sp>
        <p:nvSpPr>
          <p:cNvPr id="162" name="Google Shape;162;p20"/>
          <p:cNvSpPr txBox="1"/>
          <p:nvPr/>
        </p:nvSpPr>
        <p:spPr>
          <a:xfrm>
            <a:off x="2138650" y="1476025"/>
            <a:ext cx="521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Model: variants of U-Nets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9150" y="2198550"/>
            <a:ext cx="3995300" cy="19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729450" y="1322450"/>
            <a:ext cx="33285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7276650" y="655013"/>
            <a:ext cx="11412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4731675" y="733425"/>
            <a:ext cx="2544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Find function F modeled by U-Net such that given noisy audio input N, produce cleaned audio output C</a:t>
            </a:r>
            <a:endParaRPr sz="13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C = F(N)</a:t>
            </a:r>
            <a:endParaRPr sz="13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2385400" y="2858350"/>
            <a:ext cx="394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396000" y="3026600"/>
            <a:ext cx="39954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Original idea: obtain Mel spectrogram and stick through U-Net architecture.</a:t>
            </a:r>
            <a:endParaRPr sz="13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Later realized raw audio can also be transformed into tensor with decent results, such as in Wave-U-Net:</a:t>
            </a:r>
            <a:endParaRPr sz="13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3" name="Google Shape;17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1663" y="2278925"/>
            <a:ext cx="2731362" cy="253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/>
          <p:nvPr/>
        </p:nvSpPr>
        <p:spPr>
          <a:xfrm>
            <a:off x="7276650" y="655013"/>
            <a:ext cx="11412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9" name="Google Shape;17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325" y="655025"/>
            <a:ext cx="4392175" cy="36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 txBox="1"/>
          <p:nvPr/>
        </p:nvSpPr>
        <p:spPr>
          <a:xfrm>
            <a:off x="5805825" y="1603950"/>
            <a:ext cx="2865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Settled on using raw audio, normalized and trimmed to same size, reduced to same sampling rate.</a:t>
            </a:r>
            <a:endParaRPr sz="13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Used architecture with 4-5 encoder layers and bidirectional LSTM, largely referencing Facebook denoiser.</a:t>
            </a:r>
            <a:endParaRPr sz="13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23"/>
          <p:cNvCxnSpPr/>
          <p:nvPr/>
        </p:nvCxnSpPr>
        <p:spPr>
          <a:xfrm>
            <a:off x="1816450" y="4650"/>
            <a:ext cx="0" cy="513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6" name="Google Shape;186;p23"/>
          <p:cNvGrpSpPr/>
          <p:nvPr/>
        </p:nvGrpSpPr>
        <p:grpSpPr>
          <a:xfrm>
            <a:off x="147325" y="719688"/>
            <a:ext cx="1487400" cy="3704125"/>
            <a:chOff x="154175" y="500375"/>
            <a:chExt cx="1487400" cy="3704125"/>
          </a:xfrm>
        </p:grpSpPr>
        <p:cxnSp>
          <p:nvCxnSpPr>
            <p:cNvPr id="187" name="Google Shape;187;p23"/>
            <p:cNvCxnSpPr>
              <a:stCxn id="188" idx="0"/>
              <a:endCxn id="189" idx="2"/>
            </p:cNvCxnSpPr>
            <p:nvPr/>
          </p:nvCxnSpPr>
          <p:spPr>
            <a:xfrm>
              <a:off x="897875" y="500375"/>
              <a:ext cx="0" cy="370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8" name="Google Shape;188;p23"/>
            <p:cNvSpPr/>
            <p:nvPr/>
          </p:nvSpPr>
          <p:spPr>
            <a:xfrm>
              <a:off x="243275" y="500375"/>
              <a:ext cx="1309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Introduction</a:t>
              </a:r>
              <a:endPara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0" name="Google Shape;190;p23"/>
            <p:cNvSpPr/>
            <p:nvPr/>
          </p:nvSpPr>
          <p:spPr>
            <a:xfrm>
              <a:off x="154175" y="1316763"/>
              <a:ext cx="14874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Related Work</a:t>
              </a:r>
              <a:endPara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1" name="Google Shape;191;p23"/>
            <p:cNvSpPr/>
            <p:nvPr/>
          </p:nvSpPr>
          <p:spPr>
            <a:xfrm>
              <a:off x="327275" y="2133150"/>
              <a:ext cx="1141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Method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2" name="Google Shape;192;p23"/>
            <p:cNvSpPr/>
            <p:nvPr/>
          </p:nvSpPr>
          <p:spPr>
            <a:xfrm>
              <a:off x="205625" y="2949525"/>
              <a:ext cx="13845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Experiments</a:t>
              </a:r>
              <a:endPara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243275" y="3765900"/>
              <a:ext cx="1309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Conclusion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93" name="Google Shape;193;p23"/>
          <p:cNvSpPr txBox="1"/>
          <p:nvPr/>
        </p:nvSpPr>
        <p:spPr>
          <a:xfrm>
            <a:off x="2193475" y="1950150"/>
            <a:ext cx="394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3"/>
          <p:cNvSpPr txBox="1"/>
          <p:nvPr>
            <p:ph idx="4294967295" type="title"/>
          </p:nvPr>
        </p:nvSpPr>
        <p:spPr>
          <a:xfrm>
            <a:off x="2193475" y="1603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Data</a:t>
            </a:r>
            <a:endParaRPr sz="2220"/>
          </a:p>
        </p:txBody>
      </p:sp>
      <p:sp>
        <p:nvSpPr>
          <p:cNvPr id="195" name="Google Shape;195;p23"/>
          <p:cNvSpPr txBox="1"/>
          <p:nvPr>
            <p:ph idx="4294967295" type="title"/>
          </p:nvPr>
        </p:nvSpPr>
        <p:spPr>
          <a:xfrm>
            <a:off x="2193475" y="2335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Results</a:t>
            </a:r>
            <a:endParaRPr sz="22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/>
          <p:nvPr/>
        </p:nvSpPr>
        <p:spPr>
          <a:xfrm>
            <a:off x="4386925" y="493525"/>
            <a:ext cx="4757100" cy="46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idea: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 and remove specific sounds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 and remove specific timbres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Remove background (environmental) sounds from audio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Remove orofacial trigger sounds</a:t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7276650" y="655013"/>
            <a:ext cx="11412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7033350" y="655013"/>
            <a:ext cx="13845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Experiments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/>
          <p:nvPr/>
        </p:nvSpPr>
        <p:spPr>
          <a:xfrm>
            <a:off x="4386925" y="493525"/>
            <a:ext cx="4757100" cy="46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2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211" name="Google Shape;211;p2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idea: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 and remove specific sounds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Char char="●"/>
            </a:pPr>
            <a:r>
              <a:rPr lang="en">
                <a:solidFill>
                  <a:srgbClr val="FF0000"/>
                </a:solidFill>
              </a:rPr>
              <a:t>Add and remove specific timbres</a:t>
            </a:r>
            <a:endParaRPr>
              <a:solidFill>
                <a:srgbClr val="FF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Remove background (environmental) sounds from audio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Char char="●"/>
            </a:pPr>
            <a:r>
              <a:rPr lang="en">
                <a:solidFill>
                  <a:srgbClr val="FF0000"/>
                </a:solidFill>
              </a:rPr>
              <a:t>Remove orofacial trigger sounds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12" name="Google Shape;212;p2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Finding actual datasets proves difficult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Consistent sampling rates and audio formats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Resorted to simple adding of environmental noise (.wav files) and existing background noise speech dataset</a:t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7276650" y="655013"/>
            <a:ext cx="11412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7033400" y="655013"/>
            <a:ext cx="13845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Experiments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220" name="Google Shape;220;p26"/>
          <p:cNvSpPr/>
          <p:nvPr/>
        </p:nvSpPr>
        <p:spPr>
          <a:xfrm>
            <a:off x="7276650" y="655013"/>
            <a:ext cx="11412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033400" y="655013"/>
            <a:ext cx="13845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Experiments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2" name="Google Shape;222;p26"/>
          <p:cNvPicPr preferRelativeResize="0"/>
          <p:nvPr/>
        </p:nvPicPr>
        <p:blipFill rotWithShape="1">
          <a:blip r:embed="rId3">
            <a:alphaModFix/>
          </a:blip>
          <a:srcRect b="6645" l="0" r="0" t="5101"/>
          <a:stretch/>
        </p:blipFill>
        <p:spPr>
          <a:xfrm>
            <a:off x="873738" y="2040525"/>
            <a:ext cx="3361000" cy="26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9262" y="2091334"/>
            <a:ext cx="3361000" cy="258349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6"/>
          <p:cNvSpPr txBox="1"/>
          <p:nvPr/>
        </p:nvSpPr>
        <p:spPr>
          <a:xfrm>
            <a:off x="2337400" y="1853850"/>
            <a:ext cx="394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48k</a:t>
            </a:r>
            <a:endParaRPr i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6328375" y="1853850"/>
            <a:ext cx="394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16k</a:t>
            </a:r>
            <a:endParaRPr i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231" name="Google Shape;231;p27"/>
          <p:cNvSpPr/>
          <p:nvPr/>
        </p:nvSpPr>
        <p:spPr>
          <a:xfrm>
            <a:off x="7276650" y="655013"/>
            <a:ext cx="11412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27"/>
          <p:cNvSpPr/>
          <p:nvPr/>
        </p:nvSpPr>
        <p:spPr>
          <a:xfrm>
            <a:off x="7033400" y="655013"/>
            <a:ext cx="13845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Experiments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3" name="Google Shape;23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50" y="2055775"/>
            <a:ext cx="2451077" cy="2005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3339" y="2032307"/>
            <a:ext cx="2508426" cy="2052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2225" y="1121050"/>
            <a:ext cx="2508426" cy="205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2221" y="3141097"/>
            <a:ext cx="2508426" cy="2052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242" name="Google Shape;242;p28"/>
          <p:cNvSpPr/>
          <p:nvPr/>
        </p:nvSpPr>
        <p:spPr>
          <a:xfrm>
            <a:off x="7276650" y="655013"/>
            <a:ext cx="11412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7033400" y="655013"/>
            <a:ext cx="1384500" cy="43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Experiments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4" name="Google Shape;2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450" y="1853850"/>
            <a:ext cx="3619374" cy="298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2224" y="1853850"/>
            <a:ext cx="3619374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Google Shape;250;p29"/>
          <p:cNvCxnSpPr/>
          <p:nvPr/>
        </p:nvCxnSpPr>
        <p:spPr>
          <a:xfrm>
            <a:off x="1816450" y="4650"/>
            <a:ext cx="0" cy="513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1" name="Google Shape;251;p29"/>
          <p:cNvGrpSpPr/>
          <p:nvPr/>
        </p:nvGrpSpPr>
        <p:grpSpPr>
          <a:xfrm>
            <a:off x="147325" y="719688"/>
            <a:ext cx="1487400" cy="3704125"/>
            <a:chOff x="154175" y="500375"/>
            <a:chExt cx="1487400" cy="3704125"/>
          </a:xfrm>
        </p:grpSpPr>
        <p:cxnSp>
          <p:nvCxnSpPr>
            <p:cNvPr id="252" name="Google Shape;252;p29"/>
            <p:cNvCxnSpPr>
              <a:stCxn id="253" idx="0"/>
              <a:endCxn id="254" idx="2"/>
            </p:cNvCxnSpPr>
            <p:nvPr/>
          </p:nvCxnSpPr>
          <p:spPr>
            <a:xfrm>
              <a:off x="897875" y="500375"/>
              <a:ext cx="0" cy="370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3" name="Google Shape;253;p29"/>
            <p:cNvSpPr/>
            <p:nvPr/>
          </p:nvSpPr>
          <p:spPr>
            <a:xfrm>
              <a:off x="243275" y="500375"/>
              <a:ext cx="1309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Introduction</a:t>
              </a:r>
              <a:endPara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5" name="Google Shape;255;p29"/>
            <p:cNvSpPr/>
            <p:nvPr/>
          </p:nvSpPr>
          <p:spPr>
            <a:xfrm>
              <a:off x="154175" y="1316763"/>
              <a:ext cx="14874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Related Work</a:t>
              </a:r>
              <a:endPara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327275" y="2133150"/>
              <a:ext cx="1141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Method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205625" y="2949525"/>
              <a:ext cx="13845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Experiments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4" name="Google Shape;254;p29"/>
            <p:cNvSpPr/>
            <p:nvPr/>
          </p:nvSpPr>
          <p:spPr>
            <a:xfrm>
              <a:off x="243275" y="3765900"/>
              <a:ext cx="1309200" cy="438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Conclusion</a:t>
              </a:r>
              <a:endPara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58" name="Google Shape;258;p29"/>
          <p:cNvSpPr txBox="1"/>
          <p:nvPr/>
        </p:nvSpPr>
        <p:spPr>
          <a:xfrm>
            <a:off x="2193475" y="1950150"/>
            <a:ext cx="394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" name="Google Shape;259;p29"/>
          <p:cNvSpPr txBox="1"/>
          <p:nvPr>
            <p:ph idx="4294967295" type="title"/>
          </p:nvPr>
        </p:nvSpPr>
        <p:spPr>
          <a:xfrm>
            <a:off x="2063225" y="719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Conclusion</a:t>
            </a:r>
            <a:endParaRPr sz="2220"/>
          </a:p>
        </p:txBody>
      </p:sp>
      <p:sp>
        <p:nvSpPr>
          <p:cNvPr id="260" name="Google Shape;260;p29"/>
          <p:cNvSpPr txBox="1"/>
          <p:nvPr/>
        </p:nvSpPr>
        <p:spPr>
          <a:xfrm>
            <a:off x="2063225" y="1882963"/>
            <a:ext cx="6429600" cy="1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Results compared to speed and efficiency of training and dataset size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Extensions: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Online processing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Additional exploration of qualitatively impactful thresholds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Other model components (mix and match)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